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8" r:id="rId9"/>
    <p:sldId id="269" r:id="rId10"/>
    <p:sldId id="262" r:id="rId11"/>
    <p:sldId id="264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1086CE"/>
    <a:srgbClr val="CCCCFF"/>
    <a:srgbClr val="3366FF"/>
    <a:srgbClr val="9933FF"/>
    <a:srgbClr val="6666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Stil întunecat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Stil mediu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759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776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0035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006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189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5251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63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402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573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983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7301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847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4497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60411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3746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6637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98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0F46-AE97-48AC-8404-5472A6D44112}" type="datetimeFigureOut">
              <a:rPr lang="ro-RO" smtClean="0"/>
              <a:t>21.05.2026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E67DD-D2AB-453B-8FBE-075559F3967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5534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37A9F0-3B98-F6FE-70B4-8001F067D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613" y="1803405"/>
            <a:ext cx="11179277" cy="1825096"/>
          </a:xfrm>
        </p:spPr>
        <p:txBody>
          <a:bodyPr>
            <a:noAutofit/>
          </a:bodyPr>
          <a:lstStyle/>
          <a:p>
            <a:pPr algn="ctr"/>
            <a:r>
              <a:rPr lang="ro-RO" sz="5400" dirty="0">
                <a:latin typeface="Century" panose="02040604050505020304" pitchFamily="18" charset="0"/>
              </a:rPr>
              <a:t>DOCUMENTAȚIE PROIECT</a:t>
            </a:r>
            <a:br>
              <a:rPr lang="ro-RO" sz="5400" dirty="0">
                <a:latin typeface="Century" panose="02040604050505020304" pitchFamily="18" charset="0"/>
              </a:rPr>
            </a:br>
            <a:r>
              <a:rPr lang="ro-RO" sz="5400" dirty="0">
                <a:latin typeface="Century" panose="02040604050505020304" pitchFamily="18" charset="0"/>
              </a:rPr>
              <a:t>CALCUL NEURONAL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D3CDC4E5-120F-4C5E-9D26-252B925E8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934892"/>
            <a:ext cx="9448800" cy="868509"/>
          </a:xfrm>
        </p:spPr>
        <p:txBody>
          <a:bodyPr>
            <a:normAutofit/>
          </a:bodyPr>
          <a:lstStyle/>
          <a:p>
            <a:pPr algn="ctr" fontAlgn="base"/>
            <a:r>
              <a:rPr lang="ro-RO" sz="1600" b="1" i="1" dirty="0">
                <a:solidFill>
                  <a:schemeClr val="bg2"/>
                </a:solidFill>
              </a:rPr>
              <a:t>UNIVERSITATEA „1 DECEMBRIE 1918” DIN ALBA IULIA</a:t>
            </a:r>
            <a:r>
              <a:rPr lang="en-US" sz="1600" i="1" dirty="0">
                <a:solidFill>
                  <a:schemeClr val="bg2"/>
                </a:solidFill>
              </a:rPr>
              <a:t> </a:t>
            </a:r>
            <a:endParaRPr lang="ro-RO" sz="1600" i="1" dirty="0">
              <a:solidFill>
                <a:schemeClr val="bg2"/>
              </a:solidFill>
            </a:endParaRPr>
          </a:p>
          <a:p>
            <a:pPr algn="ctr" fontAlgn="base"/>
            <a:r>
              <a:rPr lang="ro-RO" sz="1600" b="1" i="1" dirty="0">
                <a:solidFill>
                  <a:schemeClr val="bg2"/>
                </a:solidFill>
              </a:rPr>
              <a:t>FACULTATEA DE INFORMATICĂ ȘI INGINERIE </a:t>
            </a:r>
            <a:r>
              <a:rPr lang="en-US" dirty="0"/>
              <a:t> </a:t>
            </a:r>
          </a:p>
          <a:p>
            <a:pPr algn="ctr" fontAlgn="base"/>
            <a:endParaRPr lang="ro-RO" dirty="0"/>
          </a:p>
          <a:p>
            <a:endParaRPr lang="ro-RO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242CCA-A46F-C9D8-A266-D849B01A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004" y="0"/>
            <a:ext cx="107059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1025" name="Imagine 3" descr="Universitatea „1 Decembrie 1918” din Alba Iulia">
            <a:extLst>
              <a:ext uri="{FF2B5EF4-FFF2-40B4-BE49-F238E27FC236}">
                <a16:creationId xmlns:a16="http://schemas.microsoft.com/office/drawing/2014/main" id="{D2ADA352-B8C4-6199-D3D2-477D3ECB6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748" y="4871624"/>
            <a:ext cx="2372031" cy="105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A70B927-918D-1AD2-0253-CBE0A025A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004" y="1020763"/>
            <a:ext cx="1070599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934E9FF8-1C94-00B1-425D-7C1B7B015A64}"/>
              </a:ext>
            </a:extLst>
          </p:cNvPr>
          <p:cNvSpPr txBox="1"/>
          <p:nvPr/>
        </p:nvSpPr>
        <p:spPr>
          <a:xfrm>
            <a:off x="2153266" y="3755923"/>
            <a:ext cx="8141108" cy="340535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o-RO" sz="1800" dirty="0">
                <a:effectLst/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Coordonator:</a:t>
            </a:r>
            <a:endParaRPr lang="en-US" sz="1800" dirty="0">
              <a:effectLst/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o-RO" dirty="0"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Conf. Univ. Dr.</a:t>
            </a:r>
            <a:r>
              <a:rPr lang="ro-RO" sz="1800" dirty="0">
                <a:effectLst/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                                             </a:t>
            </a:r>
            <a:endParaRPr lang="en-US" sz="1800" dirty="0">
              <a:effectLst/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o-RO" dirty="0"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BÎRLUȚIU ADRIANA</a:t>
            </a:r>
            <a:endParaRPr lang="en-US" dirty="0"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800" dirty="0">
              <a:effectLst/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Consolas" panose="020B0609020204030204" pitchFamily="49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o-RO" sz="1800" dirty="0">
                <a:effectLst/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Realizat de:</a:t>
            </a:r>
            <a:endParaRPr lang="ro-RO" sz="1050" dirty="0">
              <a:effectLst/>
              <a:latin typeface="Consolas" panose="020B06090202040302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o-RO" sz="1800" dirty="0">
                <a:effectLst/>
                <a:latin typeface="Consolas" panose="020B0609020204030204" pitchFamily="49" charset="0"/>
                <a:ea typeface="DengXian" panose="02010600030101010101" pitchFamily="2" charset="-122"/>
                <a:cs typeface="Calibri" panose="020F0502020204030204" pitchFamily="34" charset="0"/>
              </a:rPr>
              <a:t>SEICEAN DAIANA-EMILIA                               MUNTEAN MARIA-LARISA</a:t>
            </a:r>
            <a:endParaRPr lang="ro-RO" sz="1050" dirty="0">
              <a:effectLst/>
              <a:latin typeface="Consolas" panose="020B06090202040302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734215E-EA9C-11A7-8E3A-CAB7BB51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5D4AB55-75F5-430A-2A31-51324F49F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latin typeface="Century" panose="02040604050505020304" pitchFamily="18" charset="0"/>
              </a:rPr>
              <a:t>Proiectul își propune ca plecând de la un set de date culese din studierea și ulterior colectarea de date, a moluștelor (</a:t>
            </a:r>
            <a:r>
              <a:rPr lang="ro-RO" dirty="0" err="1">
                <a:latin typeface="Century" panose="02040604050505020304" pitchFamily="18" charset="0"/>
              </a:rPr>
              <a:t>Abalone</a:t>
            </a:r>
            <a:r>
              <a:rPr lang="ro-RO" dirty="0">
                <a:latin typeface="Century" panose="02040604050505020304" pitchFamily="18" charset="0"/>
              </a:rPr>
              <a:t>), să se poată stabili vârsta unui astfel de individ. </a:t>
            </a:r>
          </a:p>
          <a:p>
            <a:r>
              <a:rPr lang="ro-RO" dirty="0">
                <a:latin typeface="Century" panose="02040604050505020304" pitchFamily="18" charset="0"/>
              </a:rPr>
              <a:t>Datele au fost colectate în urma unui proces care a presupus măsurarea, cântărirea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dirty="0" err="1">
                <a:latin typeface="Century" panose="02040604050505020304" pitchFamily="18" charset="0"/>
              </a:rPr>
              <a:t>si</a:t>
            </a:r>
            <a:r>
              <a:rPr lang="ro-RO" dirty="0">
                <a:latin typeface="Century" panose="02040604050505020304" pitchFamily="18" charset="0"/>
              </a:rPr>
              <a:t> numărarea inelelor după disecția moluștelor</a:t>
            </a:r>
            <a:r>
              <a:rPr lang="en-US" dirty="0">
                <a:latin typeface="Century" panose="02040604050505020304" pitchFamily="18" charset="0"/>
              </a:rPr>
              <a:t>.</a:t>
            </a:r>
          </a:p>
          <a:p>
            <a:r>
              <a:rPr lang="ro-RO" dirty="0">
                <a:latin typeface="Century" panose="02040604050505020304" pitchFamily="18" charset="0"/>
              </a:rPr>
              <a:t>Referința setului de date este:</a:t>
            </a:r>
          </a:p>
          <a:p>
            <a:r>
              <a:rPr lang="ro-RO" dirty="0" err="1">
                <a:latin typeface="Century" panose="02040604050505020304" pitchFamily="18" charset="0"/>
              </a:rPr>
              <a:t>Nash</a:t>
            </a:r>
            <a:r>
              <a:rPr lang="ro-RO" dirty="0">
                <a:latin typeface="Century" panose="02040604050505020304" pitchFamily="18" charset="0"/>
              </a:rPr>
              <a:t>, W., Sellers, T., Talbot, S., </a:t>
            </a:r>
            <a:r>
              <a:rPr lang="ro-RO" dirty="0" err="1">
                <a:latin typeface="Century" panose="02040604050505020304" pitchFamily="18" charset="0"/>
              </a:rPr>
              <a:t>Cawthorn</a:t>
            </a:r>
            <a:r>
              <a:rPr lang="ro-RO" dirty="0">
                <a:latin typeface="Century" panose="02040604050505020304" pitchFamily="18" charset="0"/>
              </a:rPr>
              <a:t>, A., &amp; Ford, W. (1994). </a:t>
            </a:r>
            <a:r>
              <a:rPr lang="ro-RO" dirty="0" err="1">
                <a:latin typeface="Century" panose="02040604050505020304" pitchFamily="18" charset="0"/>
              </a:rPr>
              <a:t>Abalone</a:t>
            </a:r>
            <a:r>
              <a:rPr lang="ro-RO" dirty="0">
                <a:latin typeface="Century" panose="02040604050505020304" pitchFamily="18" charset="0"/>
              </a:rPr>
              <a:t> [</a:t>
            </a:r>
            <a:r>
              <a:rPr lang="ro-RO" dirty="0" err="1">
                <a:latin typeface="Century" panose="02040604050505020304" pitchFamily="18" charset="0"/>
              </a:rPr>
              <a:t>Dataset</a:t>
            </a:r>
            <a:r>
              <a:rPr lang="ro-RO" dirty="0">
                <a:latin typeface="Century" panose="02040604050505020304" pitchFamily="18" charset="0"/>
              </a:rPr>
              <a:t>]. </a:t>
            </a:r>
          </a:p>
          <a:p>
            <a:r>
              <a:rPr lang="ro-RO" dirty="0">
                <a:latin typeface="Century" panose="02040604050505020304" pitchFamily="18" charset="0"/>
              </a:rPr>
              <a:t>UCI </a:t>
            </a:r>
            <a:r>
              <a:rPr lang="ro-RO" dirty="0" err="1">
                <a:latin typeface="Century" panose="02040604050505020304" pitchFamily="18" charset="0"/>
              </a:rPr>
              <a:t>Machine</a:t>
            </a:r>
            <a:r>
              <a:rPr lang="ro-RO" dirty="0">
                <a:latin typeface="Century" panose="02040604050505020304" pitchFamily="18" charset="0"/>
              </a:rPr>
              <a:t> </a:t>
            </a:r>
            <a:r>
              <a:rPr lang="ro-RO" dirty="0" err="1">
                <a:latin typeface="Century" panose="02040604050505020304" pitchFamily="18" charset="0"/>
              </a:rPr>
              <a:t>Learning</a:t>
            </a:r>
            <a:r>
              <a:rPr lang="ro-RO" dirty="0">
                <a:latin typeface="Century" panose="02040604050505020304" pitchFamily="18" charset="0"/>
              </a:rPr>
              <a:t> </a:t>
            </a:r>
            <a:r>
              <a:rPr lang="ro-RO" dirty="0" err="1">
                <a:latin typeface="Century" panose="02040604050505020304" pitchFamily="18" charset="0"/>
              </a:rPr>
              <a:t>Repository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en-US" i="1" dirty="0">
                <a:solidFill>
                  <a:srgbClr val="99FFCC"/>
                </a:solidFill>
                <a:latin typeface="Century" panose="02040604050505020304" pitchFamily="18" charset="0"/>
              </a:rPr>
              <a:t>https://archive.ics.uci.edu/dataset/1/abalone</a:t>
            </a:r>
            <a:endParaRPr lang="ro-RO" i="1" dirty="0">
              <a:solidFill>
                <a:srgbClr val="99FFCC"/>
              </a:solidFill>
              <a:latin typeface="Century" panose="02040604050505020304" pitchFamily="18" charset="0"/>
            </a:endParaRPr>
          </a:p>
          <a:p>
            <a:endParaRPr lang="ro-RO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930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9E79-CDEC-DA0D-58C7-0021A928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4053989-B8AA-7AF0-AD64-DDA69B6E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Descriere set de date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C3EAEBB-E60D-3F34-DE9C-01C536F94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1746832" cy="422228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o-RO" sz="2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4177 </a:t>
            </a:r>
            <a:r>
              <a:rPr lang="ro-RO" sz="2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instanţe</a:t>
            </a:r>
            <a:endParaRPr lang="ro-RO" sz="2600" b="1" dirty="0">
              <a:solidFill>
                <a:schemeClr val="accent3">
                  <a:lumMod val="60000"/>
                  <a:lumOff val="40000"/>
                </a:schemeClr>
              </a:solidFill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ro-RO" sz="2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8 atribute</a:t>
            </a:r>
          </a:p>
          <a:p>
            <a:pPr marL="0" indent="0">
              <a:buNone/>
            </a:pPr>
            <a:r>
              <a:rPr lang="ro-RO" b="1" dirty="0">
                <a:solidFill>
                  <a:srgbClr val="FFC000"/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Variabilele descriu caracteristicile fizice ale moluștei(input):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sex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lungime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diametru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Înălțime</a:t>
            </a: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ro-RO" sz="2400" b="1" dirty="0">
                <a:solidFill>
                  <a:schemeClr val="accent3">
                    <a:lumMod val="75000"/>
                  </a:schemeClr>
                </a:solidFill>
                <a:latin typeface="Aptos" panose="020B0004020202020204" pitchFamily="34" charset="0"/>
                <a:cs typeface="Aharoni" panose="02010803020104030203" pitchFamily="2" charset="-79"/>
              </a:rPr>
              <a:t>Date output: </a:t>
            </a:r>
            <a:r>
              <a:rPr lang="ro-RO" dirty="0" err="1">
                <a:latin typeface="Aptos" panose="020B0004020202020204" pitchFamily="34" charset="0"/>
                <a:cs typeface="Aharoni" panose="02010803020104030203" pitchFamily="2" charset="-79"/>
              </a:rPr>
              <a:t>Rings</a:t>
            </a:r>
            <a:r>
              <a:rPr lang="ro-RO" sz="1800" dirty="0">
                <a:latin typeface="Aptos" panose="020B0004020202020204" pitchFamily="34" charset="0"/>
                <a:cs typeface="Aharoni" panose="02010803020104030203" pitchFamily="2" charset="-79"/>
              </a:rPr>
              <a:t>(</a:t>
            </a:r>
            <a:r>
              <a:rPr lang="ro-RO" sz="1800" dirty="0"/>
              <a:t>Vârsta ≈ </a:t>
            </a:r>
            <a:r>
              <a:rPr lang="ro-RO" sz="1800" dirty="0" err="1"/>
              <a:t>Rings</a:t>
            </a:r>
            <a:r>
              <a:rPr lang="ro-RO" sz="1800" dirty="0"/>
              <a:t> + 1.5 ani</a:t>
            </a:r>
            <a:r>
              <a:rPr lang="ro-RO" sz="1800" dirty="0">
                <a:latin typeface="Aptos" panose="020B0004020202020204" pitchFamily="34" charset="0"/>
                <a:cs typeface="Aharoni" panose="02010803020104030203" pitchFamily="2" charset="-79"/>
              </a:rPr>
              <a:t>)</a:t>
            </a:r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endParaRPr lang="ro-RO" dirty="0">
              <a:latin typeface="Aptos" panose="020B0004020202020204" pitchFamily="34" charset="0"/>
              <a:cs typeface="Aharoni" panose="02010803020104030203" pitchFamily="2" charset="-79"/>
            </a:endParaRP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totală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carne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viscere</a:t>
            </a:r>
          </a:p>
          <a:p>
            <a:r>
              <a:rPr lang="ro-RO" dirty="0">
                <a:latin typeface="Aptos" panose="020B0004020202020204" pitchFamily="34" charset="0"/>
                <a:cs typeface="Aharoni" panose="02010803020104030203" pitchFamily="2" charset="-79"/>
              </a:rPr>
              <a:t>greutate cochilie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175308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F193-596C-8BB9-91F9-68FF0669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17872A1-18DC-1643-4754-4FD2BAE2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7" y="764373"/>
            <a:ext cx="10522974" cy="1293028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/>
              <a:t>Datele</a:t>
            </a:r>
            <a:r>
              <a:rPr lang="en-US" sz="2800" dirty="0"/>
              <a:t> sunt </a:t>
            </a:r>
            <a:r>
              <a:rPr lang="en-US" sz="2800" dirty="0" err="1"/>
              <a:t>categoriale</a:t>
            </a:r>
            <a:r>
              <a:rPr lang="en-US" sz="2800" dirty="0"/>
              <a:t>, continue </a:t>
            </a:r>
            <a:r>
              <a:rPr lang="ro-RO" sz="2800" dirty="0" err="1"/>
              <a:t>şi</a:t>
            </a:r>
            <a:r>
              <a:rPr lang="ro-RO" sz="2800" dirty="0"/>
              <a:t> de tip </a:t>
            </a:r>
            <a:r>
              <a:rPr lang="ro-RO" sz="2800" dirty="0" err="1"/>
              <a:t>integer</a:t>
            </a:r>
            <a:r>
              <a:rPr lang="ro-RO" sz="2800" dirty="0"/>
              <a:t>,</a:t>
            </a:r>
            <a:br>
              <a:rPr lang="ro-RO" sz="2800" dirty="0"/>
            </a:br>
            <a:r>
              <a:rPr lang="ro-RO" sz="2800" dirty="0"/>
              <a:t>fiind caracterizate astfel: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6EE03F-DBAC-2136-FD93-A5D8B2FA2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lvl="0"/>
            <a:r>
              <a:rPr lang="ro-RO" dirty="0">
                <a:solidFill>
                  <a:srgbClr val="FFFF00"/>
                </a:solidFill>
              </a:rPr>
              <a:t>SEX: </a:t>
            </a:r>
            <a:r>
              <a:rPr lang="ro-RO" sz="1900" dirty="0"/>
              <a:t>M, F și I (</a:t>
            </a:r>
            <a:r>
              <a:rPr lang="ro-RO" sz="1900" dirty="0" err="1"/>
              <a:t>infant</a:t>
            </a:r>
            <a:r>
              <a:rPr lang="ro-RO" sz="1900" dirty="0"/>
              <a:t>-copil) de tip categorial; </a:t>
            </a:r>
            <a:endParaRPr lang="ro-RO" dirty="0"/>
          </a:p>
          <a:p>
            <a:pPr lvl="0"/>
            <a:r>
              <a:rPr lang="ro-RO" dirty="0">
                <a:solidFill>
                  <a:schemeClr val="accent5"/>
                </a:solidFill>
              </a:rPr>
              <a:t>LENGTH: </a:t>
            </a:r>
            <a:r>
              <a:rPr lang="ro-RO" sz="1900" dirty="0"/>
              <a:t>variabilă continuă, exprimă lungimea cochiliei în mm; </a:t>
            </a:r>
            <a:endParaRPr lang="ro-RO" dirty="0"/>
          </a:p>
          <a:p>
            <a:pPr lvl="0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DIAMETER: </a:t>
            </a:r>
            <a:r>
              <a:rPr lang="ro-RO" sz="1900" dirty="0"/>
              <a:t>variabilă continuă, exprimă diametrul (perpendicular pe LENGTH) cochiliei în mm; </a:t>
            </a:r>
          </a:p>
          <a:p>
            <a:pPr lvl="0"/>
            <a:r>
              <a:rPr lang="ro-RO" dirty="0">
                <a:solidFill>
                  <a:schemeClr val="accent4">
                    <a:lumMod val="75000"/>
                  </a:schemeClr>
                </a:solidFill>
              </a:rPr>
              <a:t>HEIGHT: </a:t>
            </a:r>
            <a:r>
              <a:rPr lang="ro-RO" sz="1900" dirty="0"/>
              <a:t>variabilă continuă, exprimă înălțimea (cu tot cu carnea) cochiliei în mm; </a:t>
            </a:r>
          </a:p>
          <a:p>
            <a:pPr lvl="0"/>
            <a:r>
              <a:rPr lang="ro-RO" dirty="0">
                <a:solidFill>
                  <a:schemeClr val="accent6"/>
                </a:solidFill>
              </a:rPr>
              <a:t>WHOLE-WEIGHT: </a:t>
            </a:r>
            <a:r>
              <a:rPr lang="ro-RO" sz="1900" dirty="0"/>
              <a:t>variabilă continuă, exprimă greutatea integrală a moluștei în gr. </a:t>
            </a:r>
          </a:p>
          <a:p>
            <a:pPr lvl="0"/>
            <a:endParaRPr lang="ro-RO" dirty="0"/>
          </a:p>
          <a:p>
            <a:pPr lvl="0"/>
            <a:r>
              <a:rPr lang="ro-RO" dirty="0">
                <a:solidFill>
                  <a:srgbClr val="99FFCC"/>
                </a:solidFill>
              </a:rPr>
              <a:t>SHUCKED-WEIGHT: </a:t>
            </a:r>
            <a:r>
              <a:rPr lang="ro-RO" sz="1900" dirty="0"/>
              <a:t>variabilă continuă, exprimă greutatea părții cărnoase a moluștei în gr. </a:t>
            </a:r>
          </a:p>
          <a:p>
            <a:pPr lvl="0"/>
            <a:r>
              <a:rPr lang="ro-RO" dirty="0">
                <a:solidFill>
                  <a:srgbClr val="33CCFF"/>
                </a:solidFill>
              </a:rPr>
              <a:t>VISCERA-WEIGHT: </a:t>
            </a:r>
            <a:r>
              <a:rPr lang="ro-RO" sz="1900" dirty="0"/>
              <a:t>variabilă continuă, exprimă greutatea părții viscerale (fără sânge) a moluștei în gr.; </a:t>
            </a:r>
          </a:p>
          <a:p>
            <a:pPr lvl="0"/>
            <a:r>
              <a:rPr lang="ro-RO" dirty="0">
                <a:solidFill>
                  <a:srgbClr val="6666FF"/>
                </a:solidFill>
              </a:rPr>
              <a:t>VISCERA-WEIGHT: </a:t>
            </a:r>
            <a:r>
              <a:rPr lang="ro-RO" sz="1900" dirty="0"/>
              <a:t>variabilă continuă, exprimă greutatea cochiliei (după uscare) a moluștei în gr. </a:t>
            </a:r>
          </a:p>
          <a:p>
            <a:pPr lvl="0"/>
            <a:r>
              <a:rPr lang="ro-RO" dirty="0">
                <a:solidFill>
                  <a:srgbClr val="9933FF"/>
                </a:solidFill>
              </a:rPr>
              <a:t>RINGS: </a:t>
            </a:r>
            <a:r>
              <a:rPr lang="ro-RO" sz="1900" dirty="0"/>
              <a:t>variabilă țintă, de tip </a:t>
            </a:r>
            <a:r>
              <a:rPr lang="ro-RO" sz="1900" dirty="0" err="1"/>
              <a:t>integer</a:t>
            </a:r>
            <a:r>
              <a:rPr lang="ro-RO" sz="1900" dirty="0"/>
              <a:t>, care adunată cu valoarea de 1,5 se folosește pentru a determina vârsta moluștei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4939652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94C59B2-39AA-B05F-A624-6B3202A8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Pregătirea datelor</a:t>
            </a:r>
            <a:br>
              <a:rPr lang="ro-RO" b="1" dirty="0"/>
            </a:b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BE9CC39-AED5-73C8-7A71-6411307C7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590" y="2194560"/>
            <a:ext cx="6224336" cy="4024125"/>
          </a:xfrm>
        </p:spPr>
        <p:txBody>
          <a:bodyPr>
            <a:normAutofit lnSpcReduction="10000"/>
          </a:bodyPr>
          <a:lstStyle/>
          <a:p>
            <a:r>
              <a:rPr lang="ro-RO" b="1" dirty="0"/>
              <a:t>Codificarea variabilei „Sex” în coloane numerice:</a:t>
            </a:r>
            <a:br>
              <a:rPr lang="ro-RO" dirty="0"/>
            </a:br>
            <a:r>
              <a:rPr lang="ro-RO" dirty="0"/>
              <a:t>M → [1,0,0], F → [0,1,0], I → [0,0,1] </a:t>
            </a:r>
          </a:p>
          <a:p>
            <a:r>
              <a:rPr lang="ro-RO" b="1" dirty="0"/>
              <a:t>Standardizarea datelor:</a:t>
            </a:r>
            <a:br>
              <a:rPr lang="ro-RO" dirty="0"/>
            </a:br>
            <a:r>
              <a:rPr lang="ro-RO" dirty="0"/>
              <a:t>Variabilele numerice sunt </a:t>
            </a:r>
            <a:r>
              <a:rPr lang="ro-RO" dirty="0" err="1"/>
              <a:t>scalate</a:t>
            </a:r>
            <a:r>
              <a:rPr lang="ro-RO" dirty="0"/>
              <a:t> între 0 și 1 </a:t>
            </a:r>
          </a:p>
          <a:p>
            <a:r>
              <a:rPr lang="ro-RO" b="1" dirty="0"/>
              <a:t>Împărțirea </a:t>
            </a:r>
            <a:r>
              <a:rPr lang="ro-RO" b="1" dirty="0" err="1"/>
              <a:t>dataset</a:t>
            </a:r>
            <a:r>
              <a:rPr lang="ro-RO" b="1" dirty="0"/>
              <a:t>-ului în 3 subseturi:</a:t>
            </a:r>
            <a:r>
              <a:rPr lang="ro-RO" dirty="0"/>
              <a:t> </a:t>
            </a:r>
          </a:p>
          <a:p>
            <a:r>
              <a:rPr lang="ro-RO" dirty="0"/>
              <a:t>60% – antrenare </a:t>
            </a:r>
          </a:p>
          <a:p>
            <a:r>
              <a:rPr lang="ro-RO" dirty="0"/>
              <a:t>20% – validare </a:t>
            </a:r>
          </a:p>
          <a:p>
            <a:r>
              <a:rPr lang="ro-RO" dirty="0"/>
              <a:t>20% – testare</a:t>
            </a:r>
          </a:p>
          <a:p>
            <a:endParaRPr lang="ro-RO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6E560E39-65BA-EB45-F858-8AB6C39E3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72" t="45189" r="22981" b="8564"/>
          <a:stretch>
            <a:fillRect/>
          </a:stretch>
        </p:blipFill>
        <p:spPr>
          <a:xfrm>
            <a:off x="6096000" y="3429000"/>
            <a:ext cx="5704877" cy="30993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687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6D22-FABE-4D6C-B16D-E7671431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9F4F8B3-98D5-2F4D-D74F-CB500328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Rețeaua neuronală</a:t>
            </a:r>
            <a:br>
              <a:rPr lang="ro-RO" b="1" dirty="0"/>
            </a:b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4A35D72-8642-F142-689E-E3549CFDD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Pentru rezolvarea problemei de regresie se recurge la construirea unor rețele neuronale iar pentru fiecare strat se folosește o funcție de activare: </a:t>
            </a:r>
            <a:r>
              <a:rPr lang="en-US" dirty="0"/>
              <a:t>S</a:t>
            </a:r>
            <a:r>
              <a:rPr lang="ro-RO" dirty="0" err="1"/>
              <a:t>igmoid</a:t>
            </a:r>
            <a:r>
              <a:rPr lang="ro-RO" dirty="0"/>
              <a:t> sau </a:t>
            </a:r>
            <a:r>
              <a:rPr lang="ro-RO" dirty="0" err="1"/>
              <a:t>ReLU</a:t>
            </a:r>
            <a:r>
              <a:rPr lang="ro-RO" dirty="0"/>
              <a:t>.</a:t>
            </a:r>
          </a:p>
          <a:p>
            <a:pPr lvl="0"/>
            <a:r>
              <a:rPr lang="ro-RO" dirty="0"/>
              <a:t>S-au testat trei tipuri de rețele neuronale: rețea cu un strat de 16 neuroni, rețea cu două straturi de 32 și 16 neuroni și rețea cu trei straturi de 64, 32 și 16 neuroni. Pentru fiecare strat s-au folosit, ca funcții de activare, pentru a contracara efectul de simplă regresie liniară și pentru a  introduce neliniaritatea în cadrul rețelei, funcțiile sigmoid și </a:t>
            </a:r>
            <a:r>
              <a:rPr lang="ro-RO" dirty="0" err="1"/>
              <a:t>ReLU</a:t>
            </a:r>
            <a:r>
              <a:rPr lang="ro-RO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741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A806-2338-62BD-F8DD-8DFA20D5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59E4AC5-EA7F-E77D-3C2E-3D2E585F5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Pentru optimizare s-a folosit și algoritmul ADAM (Adaptive Moment </a:t>
            </a:r>
            <a:r>
              <a:rPr lang="ro-RO" dirty="0" err="1"/>
              <a:t>Estimation</a:t>
            </a:r>
            <a:r>
              <a:rPr lang="ro-RO" dirty="0"/>
              <a:t>) pentru a direcționa și ajusta ponderile rețelei după fiecare eroare.</a:t>
            </a:r>
          </a:p>
          <a:p>
            <a:pPr marL="0" indent="0">
              <a:buNone/>
            </a:pPr>
            <a:r>
              <a:rPr lang="ro-RO" dirty="0"/>
              <a:t>Alte elemente folosite sunt: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o-RO" dirty="0" err="1"/>
              <a:t>learning</a:t>
            </a:r>
            <a:r>
              <a:rPr lang="ro-RO" dirty="0"/>
              <a:t> rate = 0,001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o-RO" dirty="0"/>
              <a:t>Numărul de epoci: 1000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ro-RO" dirty="0"/>
              <a:t>Număr de epoci după care se renunță la antrenare: 20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9787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20FD435-444C-5B66-387F-08B38671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1484"/>
            <a:ext cx="10820400" cy="4547201"/>
          </a:xfrm>
        </p:spPr>
        <p:txBody>
          <a:bodyPr/>
          <a:lstStyle/>
          <a:p>
            <a:r>
              <a:rPr lang="ro-RO" sz="3600" dirty="0" err="1"/>
              <a:t>Funcţia</a:t>
            </a:r>
            <a:r>
              <a:rPr lang="ro-RO" sz="3600" dirty="0"/>
              <a:t> Sigmoid</a:t>
            </a:r>
          </a:p>
          <a:p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EA7FD5D-3234-71D3-E1F1-74E494D8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3" y="2649675"/>
            <a:ext cx="4154223" cy="3472632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F90759B-FE68-85CE-0D52-AD935D4AE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31" y="2649675"/>
            <a:ext cx="4589959" cy="347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4154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20F78E8-6A24-FEFB-4CC0-A5402DAD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Funcţia</a:t>
            </a:r>
            <a:r>
              <a:rPr lang="ro-RO" dirty="0"/>
              <a:t> </a:t>
            </a:r>
            <a:r>
              <a:rPr lang="ro-RO" dirty="0" err="1"/>
              <a:t>relu</a:t>
            </a:r>
            <a:endParaRPr lang="ro-RO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73932464-55F7-F6CA-0FEF-D409DB931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312" y="1853753"/>
            <a:ext cx="4263582" cy="4199727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31510909-9578-36D8-64C9-60682B34D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108" y="1853753"/>
            <a:ext cx="4486072" cy="41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1353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4315-4068-4131-6A23-D5E2999C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D8AC08D-F480-CF83-AEC0-E54B95A4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9453" y="-336883"/>
            <a:ext cx="8666747" cy="1812758"/>
          </a:xfrm>
        </p:spPr>
        <p:txBody>
          <a:bodyPr/>
          <a:lstStyle/>
          <a:p>
            <a:r>
              <a:rPr lang="ro-RO" dirty="0"/>
              <a:t>Constatări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41CC867-9B5E-2B5C-FA28-2E906311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51284"/>
            <a:ext cx="10820400" cy="4967402"/>
          </a:xfrm>
        </p:spPr>
        <p:txBody>
          <a:bodyPr/>
          <a:lstStyle/>
          <a:p>
            <a:r>
              <a:rPr lang="ro-RO" dirty="0"/>
              <a:t>În urma rulării programului, pentru determinarea vârstei unui </a:t>
            </a:r>
            <a:r>
              <a:rPr lang="ro-RO" dirty="0" err="1"/>
              <a:t>abalone</a:t>
            </a:r>
            <a:r>
              <a:rPr lang="ro-RO" dirty="0"/>
              <a:t> cu caracteristicile: Sex: Mascul | Lungime: 0.55 mm | Diametru: 0.43 mm | Greutate: 0.82 g,</a:t>
            </a:r>
            <a:r>
              <a:rPr lang="en-US" dirty="0"/>
              <a:t> </a:t>
            </a:r>
            <a:r>
              <a:rPr lang="ro-RO" dirty="0"/>
              <a:t>s-au constatat următoarele:</a:t>
            </a:r>
          </a:p>
          <a:p>
            <a:endParaRPr lang="ro-RO" dirty="0"/>
          </a:p>
          <a:p>
            <a:endParaRPr lang="ro-RO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69E73928-2ECD-1782-246A-EA18D5A5B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962187"/>
              </p:ext>
            </p:extLst>
          </p:nvPr>
        </p:nvGraphicFramePr>
        <p:xfrm>
          <a:off x="401053" y="2310064"/>
          <a:ext cx="11534272" cy="446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3992">
                  <a:extLst>
                    <a:ext uri="{9D8B030D-6E8A-4147-A177-3AD203B41FA5}">
                      <a16:colId xmlns:a16="http://schemas.microsoft.com/office/drawing/2014/main" val="8937166"/>
                    </a:ext>
                  </a:extLst>
                </a:gridCol>
                <a:gridCol w="4541384">
                  <a:extLst>
                    <a:ext uri="{9D8B030D-6E8A-4147-A177-3AD203B41FA5}">
                      <a16:colId xmlns:a16="http://schemas.microsoft.com/office/drawing/2014/main" val="4206220455"/>
                    </a:ext>
                  </a:extLst>
                </a:gridCol>
                <a:gridCol w="4758896">
                  <a:extLst>
                    <a:ext uri="{9D8B030D-6E8A-4147-A177-3AD203B41FA5}">
                      <a16:colId xmlns:a16="http://schemas.microsoft.com/office/drawing/2014/main" val="879392988"/>
                    </a:ext>
                  </a:extLst>
                </a:gridCol>
              </a:tblGrid>
              <a:tr h="614936"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Arhitectură rețea, structură</a:t>
                      </a:r>
                      <a:endParaRPr lang="ro-RO" dirty="0"/>
                    </a:p>
                  </a:txBody>
                  <a:tcPr>
                    <a:solidFill>
                      <a:srgbClr val="1086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funcție de activare sigmoid</a:t>
                      </a:r>
                      <a:endParaRPr lang="ro-RO" dirty="0"/>
                    </a:p>
                  </a:txBody>
                  <a:tcPr>
                    <a:solidFill>
                      <a:srgbClr val="1086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funcție de activare  </a:t>
                      </a:r>
                      <a:r>
                        <a:rPr lang="ro-RO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ReLU</a:t>
                      </a:r>
                      <a:endParaRPr lang="ro-RO" dirty="0"/>
                    </a:p>
                  </a:txBody>
                  <a:tcPr>
                    <a:solidFill>
                      <a:srgbClr val="1086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14068"/>
                  </a:ext>
                </a:extLst>
              </a:tr>
              <a:tr h="3829762"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strat cu 16 neuroni</a:t>
                      </a:r>
                      <a:endParaRPr lang="ro-RO" b="1" dirty="0"/>
                    </a:p>
                  </a:txBody>
                  <a:tcPr>
                    <a:gradFill flip="none" rotWithShape="1">
                      <a:gsLst>
                        <a:gs pos="0">
                          <a:srgbClr val="CCCCFF">
                            <a:shade val="30000"/>
                            <a:satMod val="115000"/>
                          </a:srgbClr>
                        </a:gs>
                        <a:gs pos="50000">
                          <a:srgbClr val="CCCCFF">
                            <a:shade val="67500"/>
                            <a:satMod val="115000"/>
                          </a:srgbClr>
                        </a:gs>
                        <a:gs pos="100000">
                          <a:srgbClr val="CCCCFF">
                            <a:shade val="100000"/>
                            <a:satMod val="115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1.5392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1.5421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0.5568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0.5451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0.0030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677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(din max 1000).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2.2412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: 10.0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11.5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CCCCFF">
                            <a:shade val="30000"/>
                            <a:satMod val="115000"/>
                          </a:srgbClr>
                        </a:gs>
                        <a:gs pos="50000">
                          <a:srgbClr val="CCCCFF">
                            <a:shade val="67500"/>
                            <a:satMod val="115000"/>
                          </a:srgbClr>
                        </a:gs>
                        <a:gs pos="100000">
                          <a:srgbClr val="CCCCFF">
                            <a:shade val="100000"/>
                            <a:satMod val="115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1.5865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1.5665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0.5367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0.5238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0.0200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299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(din max 1000).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2.3215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: 10.2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11.7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rgbClr val="CCCCFF">
                            <a:shade val="30000"/>
                            <a:satMod val="115000"/>
                          </a:srgbClr>
                        </a:gs>
                        <a:gs pos="50000">
                          <a:srgbClr val="CCCCFF">
                            <a:shade val="67500"/>
                            <a:satMod val="115000"/>
                          </a:srgbClr>
                        </a:gs>
                        <a:gs pos="100000">
                          <a:srgbClr val="CCCCFF">
                            <a:shade val="100000"/>
                            <a:satMod val="115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0954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20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078D71D7-3AEC-9A64-11A6-5BFB12765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32737"/>
              </p:ext>
            </p:extLst>
          </p:nvPr>
        </p:nvGraphicFramePr>
        <p:xfrm>
          <a:off x="599767" y="1445343"/>
          <a:ext cx="11335557" cy="5334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504">
                  <a:extLst>
                    <a:ext uri="{9D8B030D-6E8A-4147-A177-3AD203B41FA5}">
                      <a16:colId xmlns:a16="http://schemas.microsoft.com/office/drawing/2014/main" val="8937166"/>
                    </a:ext>
                  </a:extLst>
                </a:gridCol>
                <a:gridCol w="4463144">
                  <a:extLst>
                    <a:ext uri="{9D8B030D-6E8A-4147-A177-3AD203B41FA5}">
                      <a16:colId xmlns:a16="http://schemas.microsoft.com/office/drawing/2014/main" val="4206220455"/>
                    </a:ext>
                  </a:extLst>
                </a:gridCol>
                <a:gridCol w="4676909">
                  <a:extLst>
                    <a:ext uri="{9D8B030D-6E8A-4147-A177-3AD203B41FA5}">
                      <a16:colId xmlns:a16="http://schemas.microsoft.com/office/drawing/2014/main" val="879392988"/>
                    </a:ext>
                  </a:extLst>
                </a:gridCol>
              </a:tblGrid>
              <a:tr h="763908"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Arhitectură rețea, structură</a:t>
                      </a:r>
                      <a:endParaRPr lang="ro-RO" dirty="0"/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funcție de activare sigmoid</a:t>
                      </a:r>
                      <a:endParaRPr lang="ro-RO" dirty="0"/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 funcție de activare  </a:t>
                      </a:r>
                      <a:r>
                        <a:rPr lang="ro-RO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ReLU</a:t>
                      </a:r>
                      <a:endParaRPr lang="ro-RO" dirty="0"/>
                    </a:p>
                  </a:txBody>
                  <a:tcPr>
                    <a:solidFill>
                      <a:srgbClr val="33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14068"/>
                  </a:ext>
                </a:extLst>
              </a:tr>
              <a:tr h="4570656">
                <a:tc>
                  <a:txBody>
                    <a:bodyPr/>
                    <a:lstStyle/>
                    <a:p>
                      <a:r>
                        <a:rPr lang="ro-RO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Două straturi cu 32 și 16 neuroni</a:t>
                      </a:r>
                      <a:endParaRPr lang="ro-RO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1.4627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1.4976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0.5804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0.5467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0.0349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921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(din max 1000).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2.0608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: 10.0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11.5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1.5211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1.5167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0.5621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0.5465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0.0044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171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(din max 1000).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2.1722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: 10.3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11.8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0954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21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371F4571-91B2-42EE-99C6-4316402C1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258144"/>
              </p:ext>
            </p:extLst>
          </p:nvPr>
        </p:nvGraphicFramePr>
        <p:xfrm>
          <a:off x="422787" y="1347019"/>
          <a:ext cx="11512536" cy="543288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229782">
                  <a:extLst>
                    <a:ext uri="{9D8B030D-6E8A-4147-A177-3AD203B41FA5}">
                      <a16:colId xmlns:a16="http://schemas.microsoft.com/office/drawing/2014/main" val="8937166"/>
                    </a:ext>
                  </a:extLst>
                </a:gridCol>
                <a:gridCol w="4532826">
                  <a:extLst>
                    <a:ext uri="{9D8B030D-6E8A-4147-A177-3AD203B41FA5}">
                      <a16:colId xmlns:a16="http://schemas.microsoft.com/office/drawing/2014/main" val="4206220455"/>
                    </a:ext>
                  </a:extLst>
                </a:gridCol>
                <a:gridCol w="4749928">
                  <a:extLst>
                    <a:ext uri="{9D8B030D-6E8A-4147-A177-3AD203B41FA5}">
                      <a16:colId xmlns:a16="http://schemas.microsoft.com/office/drawing/2014/main" val="879392988"/>
                    </a:ext>
                  </a:extLst>
                </a:gridCol>
              </a:tblGrid>
              <a:tr h="777988"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</a:rPr>
                        <a:t>Arhitectură rețea, structură</a:t>
                      </a:r>
                      <a:endParaRPr lang="ro-RO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</a:rPr>
                        <a:t>Cu funcție de activare sigmoid</a:t>
                      </a:r>
                      <a:endParaRPr lang="ro-RO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800" b="1" kern="1200" dirty="0">
                          <a:solidFill>
                            <a:schemeClr val="lt1"/>
                          </a:solidFill>
                          <a:effectLst/>
                        </a:rPr>
                        <a:t>Cu funcție de activare  </a:t>
                      </a:r>
                      <a:r>
                        <a:rPr lang="ro-RO" sz="1800" b="1" kern="1200" dirty="0" err="1">
                          <a:solidFill>
                            <a:schemeClr val="lt1"/>
                          </a:solidFill>
                          <a:effectLst/>
                        </a:rPr>
                        <a:t>ReLU</a:t>
                      </a:r>
                      <a:endParaRPr lang="ro-RO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514068"/>
                  </a:ext>
                </a:extLst>
              </a:tr>
              <a:tr h="4654899">
                <a:tc>
                  <a:txBody>
                    <a:bodyPr/>
                    <a:lstStyle/>
                    <a:p>
                      <a:r>
                        <a:rPr lang="ro-RO" sz="1800" kern="1200" dirty="0">
                          <a:solidFill>
                            <a:schemeClr val="dk1"/>
                          </a:solidFill>
                          <a:effectLst/>
                        </a:rPr>
                        <a:t>Trei straturi cu 64, 32 și 16 neuroni</a:t>
                      </a:r>
                      <a:endParaRPr lang="ro-R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: 1.4504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 : 1.4959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: 0.5784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 : 0.5465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: 0.0455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516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2.2116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model : 10.2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: 11.7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: 1.4869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 : 1.4938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: 0.5700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R2 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  : 0.5483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Diferenta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MAE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validare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vs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testare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0.0069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ro-RO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</a:p>
                    <a:p>
                      <a:pPr latinLnBrk="1"/>
                      <a:r>
                        <a:rPr lang="ro-RO" sz="1800" kern="1200" dirty="0">
                          <a:solidFill>
                            <a:schemeClr val="dk1"/>
                          </a:solidFill>
                          <a:effectLst/>
                        </a:rPr>
                        <a:t>A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finalizat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dupa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162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epoci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(din max 1000).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Eroarea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interna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antrenament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2.1139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Predictie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model : 9.6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inele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latinLnBrk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Varsta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estimata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</a:rPr>
                        <a:t> : 11.1 ani</a:t>
                      </a:r>
                      <a:endParaRPr lang="ro-RO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54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73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E93EFA-E6A3-2635-BCD7-26E91367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C2D4CFD-3732-55F9-E734-A5C65EAA2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sz="2800" b="1" dirty="0">
                <a:solidFill>
                  <a:srgbClr val="99FFCC"/>
                </a:solidFill>
              </a:rPr>
              <a:t>Concluzii</a:t>
            </a:r>
          </a:p>
          <a:p>
            <a:r>
              <a:rPr lang="ro-RO" dirty="0">
                <a:latin typeface="Consolas" panose="020B0609020204030204" pitchFamily="49" charset="0"/>
              </a:rPr>
              <a:t>Toate cele 6 modele au performanțe similare, fiind diferențe nesemnificative</a:t>
            </a:r>
          </a:p>
          <a:p>
            <a:r>
              <a:rPr lang="ro-RO" dirty="0">
                <a:latin typeface="Consolas" panose="020B0609020204030204" pitchFamily="49" charset="0"/>
              </a:rPr>
              <a:t>Sigmoid necesită mai multe epoci decât </a:t>
            </a:r>
            <a:r>
              <a:rPr lang="ro-RO" dirty="0" err="1">
                <a:latin typeface="Consolas" panose="020B0609020204030204" pitchFamily="49" charset="0"/>
              </a:rPr>
              <a:t>ReLU</a:t>
            </a:r>
            <a:r>
              <a:rPr lang="ro-RO" dirty="0">
                <a:latin typeface="Consolas" panose="020B0609020204030204" pitchFamily="49" charset="0"/>
              </a:rPr>
              <a:t>, dar nu afectează semnificativ timpul (</a:t>
            </a:r>
            <a:r>
              <a:rPr lang="ro-RO" dirty="0" err="1">
                <a:latin typeface="Consolas" panose="020B0609020204030204" pitchFamily="49" charset="0"/>
              </a:rPr>
              <a:t>dataset</a:t>
            </a:r>
            <a:r>
              <a:rPr lang="ro-RO" dirty="0">
                <a:latin typeface="Consolas" panose="020B0609020204030204" pitchFamily="49" charset="0"/>
              </a:rPr>
              <a:t> mic) </a:t>
            </a:r>
          </a:p>
          <a:p>
            <a:r>
              <a:rPr lang="ro-RO" dirty="0">
                <a:latin typeface="Consolas" panose="020B0609020204030204" pitchFamily="49" charset="0"/>
              </a:rPr>
              <a:t>Model optim: Din analiza celor șase modele putem constata că este utilă rețeaua neuronală cu un singur strat ascuns cu 16 neuroni, cu funcția de activare sigmoid pentru a rezolva problema noastră de regresie care își propune să determine vârsta unui </a:t>
            </a:r>
            <a:r>
              <a:rPr lang="ro-RO" dirty="0" err="1">
                <a:latin typeface="Consolas" panose="020B0609020204030204" pitchFamily="49" charset="0"/>
              </a:rPr>
              <a:t>abalone</a:t>
            </a:r>
            <a:r>
              <a:rPr lang="ro-RO" dirty="0">
                <a:latin typeface="Consolas" panose="020B0609020204030204" pitchFamily="49" charset="0"/>
              </a:rPr>
              <a:t> (moluscă) plecând de la date referitoare la sex, dimensiune și greutate, fără a fi necesare disecția și numărarea cercurilor (</a:t>
            </a:r>
            <a:r>
              <a:rPr lang="ro-RO" dirty="0" err="1">
                <a:latin typeface="Consolas" panose="020B0609020204030204" pitchFamily="49" charset="0"/>
              </a:rPr>
              <a:t>rings</a:t>
            </a:r>
            <a:r>
              <a:rPr lang="ro-RO" dirty="0">
                <a:latin typeface="Consolas" panose="020B0609020204030204" pitchFamily="49" charset="0"/>
              </a:rPr>
              <a:t>) de pe cochilie. </a:t>
            </a:r>
          </a:p>
        </p:txBody>
      </p:sp>
    </p:spTree>
    <p:extLst>
      <p:ext uri="{BB962C8B-B14F-4D97-AF65-F5344CB8AC3E}">
        <p14:creationId xmlns:p14="http://schemas.microsoft.com/office/powerpoint/2010/main" val="65945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3554B66-F60F-87C1-528A-1415946F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10" y="764372"/>
            <a:ext cx="10680290" cy="5420117"/>
          </a:xfrm>
        </p:spPr>
        <p:txBody>
          <a:bodyPr>
            <a:normAutofit/>
          </a:bodyPr>
          <a:lstStyle/>
          <a:p>
            <a:pPr algn="ctr"/>
            <a:r>
              <a:rPr lang="ro-RO" sz="6600" dirty="0"/>
              <a:t>Vă </a:t>
            </a:r>
            <a:r>
              <a:rPr lang="ro-RO" sz="6600" dirty="0" err="1"/>
              <a:t>Mulţumim</a:t>
            </a:r>
            <a:r>
              <a:rPr lang="ro-RO" sz="6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78414004"/>
      </p:ext>
    </p:extLst>
  </p:cSld>
  <p:clrMapOvr>
    <a:masterClrMapping/>
  </p:clrMapOvr>
</p:sld>
</file>

<file path=ppt/theme/theme1.xml><?xml version="1.0" encoding="utf-8"?>
<a:theme xmlns:a="http://schemas.openxmlformats.org/drawingml/2006/main" name="Urmă vapori">
  <a:themeElements>
    <a:clrScheme name="Portocaliu roșu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articularizare 1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Urmă vapor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385</TotalTime>
  <Words>1105</Words>
  <Application>Microsoft Office PowerPoint</Application>
  <PresentationFormat>Ecran lat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</vt:lpstr>
      <vt:lpstr>Consolas</vt:lpstr>
      <vt:lpstr>Wingdings</vt:lpstr>
      <vt:lpstr>Urmă vapori</vt:lpstr>
      <vt:lpstr>DOCUMENTAȚIE PROIECT CALCUL NEURONAL</vt:lpstr>
      <vt:lpstr>Descrierea problemei </vt:lpstr>
      <vt:lpstr>Descriere set de date</vt:lpstr>
      <vt:lpstr>Datele sunt categoriale, continue şi de tip integer, fiind caracterizate astfel:</vt:lpstr>
      <vt:lpstr>Pregătirea datelor </vt:lpstr>
      <vt:lpstr>Rețeaua neuronală </vt:lpstr>
      <vt:lpstr>Prezentare PowerPoint</vt:lpstr>
      <vt:lpstr>Prezentare PowerPoint</vt:lpstr>
      <vt:lpstr>Funcţia relu</vt:lpstr>
      <vt:lpstr>Constatări</vt:lpstr>
      <vt:lpstr>Prezentare PowerPoint</vt:lpstr>
      <vt:lpstr>Prezentare PowerPoint</vt:lpstr>
      <vt:lpstr>Prezentare PowerPoint</vt:lpstr>
      <vt:lpstr>Vă Mulţumim!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Emilia Seicean</dc:creator>
  <cp:lastModifiedBy>Emilia Seicean</cp:lastModifiedBy>
  <cp:revision>13</cp:revision>
  <dcterms:created xsi:type="dcterms:W3CDTF">2026-05-20T07:18:27Z</dcterms:created>
  <dcterms:modified xsi:type="dcterms:W3CDTF">2026-05-21T13:25:47Z</dcterms:modified>
</cp:coreProperties>
</file>